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228600"/>
            <a:ext cx="91440" cy="91440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21208" y="228600"/>
            <a:ext cx="91440" cy="91440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376" y="228600"/>
            <a:ext cx="91440" cy="91440"/>
          </a:xfrm>
          <a:prstGeom prst="ellipse">
            <a:avLst/>
          </a:prstGeom>
          <a:solidFill>
            <a:srgbClr val="1B2A3F"/>
          </a:solidFill>
          <a:ln w="12700">
            <a:solidFill>
              <a:srgbClr val="1B2A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3544" y="228600"/>
            <a:ext cx="91440" cy="91440"/>
          </a:xfrm>
          <a:prstGeom prst="ellipse">
            <a:avLst/>
          </a:prstGeom>
          <a:solidFill>
            <a:srgbClr val="1B2A3F"/>
          </a:solidFill>
          <a:ln w="12700">
            <a:solidFill>
              <a:srgbClr val="1B2A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4712" y="228600"/>
            <a:ext cx="91440" cy="91440"/>
          </a:xfrm>
          <a:prstGeom prst="ellipse">
            <a:avLst/>
          </a:prstGeom>
          <a:solidFill>
            <a:srgbClr val="1B2A3F"/>
          </a:solidFill>
          <a:ln w="12700">
            <a:solidFill>
              <a:srgbClr val="1B2A3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25880" y="228600"/>
            <a:ext cx="91440" cy="91440"/>
          </a:xfrm>
          <a:prstGeom prst="ellipse">
            <a:avLst/>
          </a:prstGeom>
          <a:solidFill>
            <a:srgbClr val="1B2A3F"/>
          </a:solidFill>
          <a:ln w="12700">
            <a:solidFill>
              <a:srgbClr val="1B2A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9144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WiFi CSI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502920" y="18745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Detection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502920" y="28346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Channel State Information from ESP32-C6 &amp; ESP32-C3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" y="340156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Nima Chaharbaghi   ·   Saif Meftah   ·   Florian Milbradt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840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8F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github.com/nimachaharbaghi/presencedetection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06640" y="2011680"/>
            <a:ext cx="1097280" cy="1097280"/>
          </a:xfrm>
          <a:prstGeom prst="ellipse">
            <a:avLst/>
          </a:prstGeom>
          <a:solidFill>
            <a:srgbClr val="0D1B2A"/>
          </a:solidFill>
          <a:ln w="25400">
            <a:solidFill>
              <a:srgbClr val="0A8F8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95160" y="1600200"/>
            <a:ext cx="1920240" cy="192024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A8F8F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0" y="1188720"/>
            <a:ext cx="2743200" cy="27432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A8F8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777240"/>
            <a:ext cx="3566160" cy="356616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A8F8F">
                <a:alpha val="2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94192" y="2542032"/>
            <a:ext cx="54864" cy="54864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4709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0A8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· WiFi Sensing · Real-Time Detection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109728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74320" y="2926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State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274320"/>
            <a:ext cx="1097280" cy="45720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49040" y="457200"/>
            <a:ext cx="5120640" cy="1188720"/>
          </a:xfrm>
          <a:prstGeom prst="rect">
            <a:avLst/>
          </a:prstGeom>
          <a:solidFill>
            <a:srgbClr val="E8F4F4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0" y="566928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 describes how a WiFi signal travels from transmitter to receiver — capturing the amplitude and phase shift of each subcarrier frequency.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749040" y="1920240"/>
            <a:ext cx="384048" cy="384048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49040" y="193852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51960" y="1920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RSSI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51960" y="215798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RSSI gives one number. CSI gives 52–256 complex values per packet — a full fingerprint of the signal path.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749040" y="2807208"/>
            <a:ext cx="384048" cy="384048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49040" y="282549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51960" y="28072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in action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251960" y="30449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bodies absorb 2.4 GHz WiFi at ~60%. Any person in the path measurably distorts the signal.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749040" y="3694176"/>
            <a:ext cx="384048" cy="384048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49040" y="371246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51960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extra hardware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5196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802.11 packets carry CSI. No cameras, no PIR sensors — just the WiFi radio already on the chip.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" cy="36576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498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boards under $5 — total hardware cost ~$10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3931920" cy="3566160"/>
          </a:xfrm>
          <a:prstGeom prst="rect">
            <a:avLst/>
          </a:prstGeom>
          <a:solidFill>
            <a:srgbClr val="0A1F0A"/>
          </a:solidFill>
          <a:ln w="25400">
            <a:solidFill>
              <a:srgbClr val="0A8F8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325880"/>
            <a:ext cx="1371600" cy="2194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23160" y="129844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Seeed XIAO ESP32-C6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423160" y="170992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 Receiver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423160" y="20299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WiFi 6 (802.11ax)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2423160" y="23317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RISC-V 160 MHz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423160" y="26334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128 CSI samples/pkt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423160" y="29352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ESP-IDF v5.3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423160" y="3493008"/>
            <a:ext cx="1691640" cy="502920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423160" y="349300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3108960" y="3520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Seeed Studio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 Series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663440" y="1188720"/>
            <a:ext cx="3931920" cy="3566160"/>
          </a:xfrm>
          <a:prstGeom prst="rect">
            <a:avLst/>
          </a:prstGeom>
          <a:solidFill>
            <a:srgbClr val="0A0A1F"/>
          </a:solidFill>
          <a:ln w="25400">
            <a:solidFill>
              <a:srgbClr val="00D4AA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1325880"/>
            <a:ext cx="1371600" cy="219456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675120" y="129844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ESP32-C3 DevKit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6675120" y="170992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 Transmitter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675120" y="202996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WiFi 802.11n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675120" y="23317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RISC-V 160 MHz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6675120" y="26334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10 packets/sec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675120" y="29352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Runs on powerbank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675120" y="3493008"/>
            <a:ext cx="1691640" cy="5029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675120" y="3493008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</a:t>
            </a:r>
            <a:endParaRPr lang="en-US" sz="2200" dirty="0"/>
          </a:p>
        </p:txBody>
      </p:sp>
      <p:sp>
        <p:nvSpPr>
          <p:cNvPr id="26" name="Text 22"/>
          <p:cNvSpPr/>
          <p:nvPr/>
        </p:nvSpPr>
        <p:spPr>
          <a:xfrm>
            <a:off x="7360920" y="3520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devkit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AliExpress/Amazon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365760" y="4800600"/>
            <a:ext cx="8229600" cy="228600"/>
          </a:xfrm>
          <a:prstGeom prst="rect">
            <a:avLst/>
          </a:prstGeom>
          <a:solidFill>
            <a:srgbClr val="1B2A3F"/>
          </a:solidFill>
          <a:ln w="12700">
            <a:solidFill>
              <a:srgbClr val="1B2A3F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457200" y="4818888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project hardware cost: ~$9   ·   No soldering required   ·   Plug-and-play USB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737360" cy="36576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1B2A3F"/>
          </a:solidFill>
          <a:ln w="25400">
            <a:solidFill>
              <a:srgbClr val="8BA3B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24128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166420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WiFi AP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46504" y="1645920"/>
            <a:ext cx="566928" cy="0"/>
          </a:xfrm>
          <a:prstGeom prst="line">
            <a:avLst/>
          </a:prstGeom>
          <a:noFill/>
          <a:ln w="19050">
            <a:solidFill>
              <a:srgbClr val="0A8F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03120" y="96012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1B2A3F"/>
          </a:solidFill>
          <a:ln w="25400">
            <a:solidFill>
              <a:srgbClr val="0A8F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48840" y="1024128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48840" y="166420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active_sta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21024" y="1645920"/>
            <a:ext cx="566928" cy="0"/>
          </a:xfrm>
          <a:prstGeom prst="line">
            <a:avLst/>
          </a:prstGeom>
          <a:noFill/>
          <a:ln w="19050">
            <a:solidFill>
              <a:srgbClr val="0A8F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0" y="96012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1B2A3F"/>
          </a:solidFill>
          <a:ln w="25400">
            <a:solidFill>
              <a:srgbClr val="0A8F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60520" y="1024128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60520" y="166420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sniffer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32704" y="1645920"/>
            <a:ext cx="566928" cy="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96012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1B2A3F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024128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72200" y="166420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csi_server.py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44384" y="1645920"/>
            <a:ext cx="566928" cy="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80960" y="960120"/>
            <a:ext cx="1508760" cy="1371600"/>
          </a:xfrm>
          <a:prstGeom prst="roundRect">
            <a:avLst>
              <a:gd name="adj" fmla="val 5333"/>
            </a:avLst>
          </a:prstGeom>
          <a:solidFill>
            <a:srgbClr val="1B2A3F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26680" y="1024128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26680" y="1664208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presence_dashboard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.html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764792" y="23957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WiFi connection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39312" y="23957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 packets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(raw data)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650992" y="23957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/dev/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ttyACM0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662672" y="239572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localhost:8765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28600" y="3017520"/>
            <a:ext cx="2834640" cy="1783080"/>
          </a:xfrm>
          <a:prstGeom prst="rect">
            <a:avLst/>
          </a:prstGeom>
          <a:solidFill>
            <a:srgbClr val="102535"/>
          </a:solidFill>
          <a:ln w="12700">
            <a:solidFill>
              <a:srgbClr val="1E3A4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3108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Transmission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3456432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 connects to hotspot and fires packets at 10/sec. Each packet triggers a CSI measurement on the receiver.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00400" y="3017520"/>
            <a:ext cx="2834640" cy="1783080"/>
          </a:xfrm>
          <a:prstGeom prst="rect">
            <a:avLst/>
          </a:prstGeom>
          <a:solidFill>
            <a:srgbClr val="102535"/>
          </a:solidFill>
          <a:ln w="12700">
            <a:solidFill>
              <a:srgbClr val="1E3A4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37560" y="3108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CSI Collection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337560" y="3456432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C6 runs in promiscuous mode on ch.6. For every C3 packet, the WiFi driver captures 128 CSI samples and prints to serial.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172200" y="3017520"/>
            <a:ext cx="2834640" cy="1783080"/>
          </a:xfrm>
          <a:prstGeom prst="rect">
            <a:avLst/>
          </a:prstGeom>
          <a:solidFill>
            <a:srgbClr val="102535"/>
          </a:solidFill>
          <a:ln w="12700">
            <a:solidFill>
              <a:srgbClr val="1E3A4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0" y="3108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Presence Detection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09360" y="3456432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reads serial, extracts RSSI, computes rolling variance over 50 samples, and compares against a calibrated threshold.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Physics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Detection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389888"/>
            <a:ext cx="1280160" cy="36576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5544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WiFi signals travel multiple paths. A human body changes those paths.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2331720"/>
            <a:ext cx="914400" cy="502920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350008"/>
            <a:ext cx="914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42316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2.4 GHz absorbed by water in human tissue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2990088"/>
            <a:ext cx="914400" cy="502920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3008376"/>
            <a:ext cx="914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52+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17320" y="3081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subcarriers measured per packet on ESP32-C6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648456"/>
            <a:ext cx="914400" cy="502920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666744"/>
            <a:ext cx="914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10×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17320" y="373989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per second from the C3 transmitter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4306824"/>
            <a:ext cx="914400" cy="502920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4325112"/>
            <a:ext cx="914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17320" y="439826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latency after calibration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54880" y="274320"/>
            <a:ext cx="4114800" cy="4572000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411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Multipath propagation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937760" y="1097280"/>
            <a:ext cx="731520" cy="457200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10972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63840" y="3474720"/>
            <a:ext cx="731520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0" y="34747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87568" y="1325880"/>
            <a:ext cx="2176272" cy="2194560"/>
          </a:xfrm>
          <a:prstGeom prst="line">
            <a:avLst/>
          </a:prstGeom>
          <a:noFill/>
          <a:ln w="19050">
            <a:solidFill>
              <a:srgbClr val="0A8F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18288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687568" y="1325880"/>
            <a:ext cx="1371600" cy="-274320"/>
          </a:xfrm>
          <a:prstGeom prst="line">
            <a:avLst/>
          </a:prstGeom>
          <a:noFill/>
          <a:ln w="12700">
            <a:solidFill>
              <a:srgbClr val="4488AA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7059168" y="1051560"/>
            <a:ext cx="1170432" cy="2468880"/>
          </a:xfrm>
          <a:prstGeom prst="line">
            <a:avLst/>
          </a:prstGeom>
          <a:noFill/>
          <a:ln w="12700">
            <a:solidFill>
              <a:srgbClr val="4488AA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309360" y="2011680"/>
            <a:ext cx="457200" cy="731520"/>
          </a:xfrm>
          <a:prstGeom prst="ellipse">
            <a:avLst/>
          </a:prstGeom>
          <a:solidFill>
            <a:srgbClr val="3A2060"/>
          </a:solidFill>
          <a:ln w="25400">
            <a:solidFill>
              <a:srgbClr val="E052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72200" y="28163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766560" y="2331720"/>
            <a:ext cx="548640" cy="548640"/>
          </a:xfrm>
          <a:prstGeom prst="line">
            <a:avLst/>
          </a:prstGeom>
          <a:noFill/>
          <a:ln w="12700">
            <a:solidFill>
              <a:srgbClr val="E05252"/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6766560" y="2331720"/>
            <a:ext cx="731520" cy="1097280"/>
          </a:xfrm>
          <a:prstGeom prst="line">
            <a:avLst/>
          </a:prstGeom>
          <a:noFill/>
          <a:ln w="12700">
            <a:solidFill>
              <a:srgbClr val="E05252"/>
            </a:solidFill>
            <a:prstDash val="sysDot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Algorithm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737360" cy="36576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3931920" cy="1143000"/>
          </a:xfrm>
          <a:prstGeom prst="rect">
            <a:avLst/>
          </a:prstGeom>
          <a:solidFill>
            <a:srgbClr val="0A2535"/>
          </a:solidFill>
          <a:ln w="12700">
            <a:solidFill>
              <a:srgbClr val="1E3A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33272"/>
            <a:ext cx="457200" cy="457200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515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24128" y="1033272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MAC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1344168"/>
            <a:ext cx="3182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packets from the C3's known MAC address are processed. All ambient WiFi traffic is ignored.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258568"/>
            <a:ext cx="3931920" cy="1143000"/>
          </a:xfrm>
          <a:prstGeom prst="rect">
            <a:avLst/>
          </a:prstGeom>
          <a:solidFill>
            <a:srgbClr val="0A2535"/>
          </a:solidFill>
          <a:ln w="12700">
            <a:solidFill>
              <a:srgbClr val="1E3A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331720"/>
            <a:ext cx="457200" cy="457200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5000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24128" y="2331720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window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24128" y="2642616"/>
            <a:ext cx="3182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50 RSSI values are stored in a circular buffer. Smooths noise while staying responsive to real changes.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557016"/>
            <a:ext cx="3931920" cy="1143000"/>
          </a:xfrm>
          <a:prstGeom prst="rect">
            <a:avLst/>
          </a:prstGeom>
          <a:solidFill>
            <a:srgbClr val="0A2535"/>
          </a:solidFill>
          <a:ln w="12700">
            <a:solidFill>
              <a:srgbClr val="1E3A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630168"/>
            <a:ext cx="457200" cy="457200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6484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24128" y="3630168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metric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24128" y="3941064"/>
            <a:ext cx="3182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= average squared deviation from the mean. Empty room: low. Person present: higher and fluctuating.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960120"/>
            <a:ext cx="3931920" cy="1143000"/>
          </a:xfrm>
          <a:prstGeom prst="rect">
            <a:avLst/>
          </a:prstGeom>
          <a:solidFill>
            <a:srgbClr val="0A2535"/>
          </a:solidFill>
          <a:ln w="12700">
            <a:solidFill>
              <a:srgbClr val="1E3A4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37760" y="1033272"/>
            <a:ext cx="457200" cy="457200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10515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504688" y="1033272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04688" y="1344168"/>
            <a:ext cx="3182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startup, 30 seconds of empty-room variance is recorded. Threshold = median + 2 × std deviation + 0.5.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46320" y="2258568"/>
            <a:ext cx="3931920" cy="1143000"/>
          </a:xfrm>
          <a:prstGeom prst="rect">
            <a:avLst/>
          </a:prstGeom>
          <a:solidFill>
            <a:srgbClr val="0A2535"/>
          </a:solidFill>
          <a:ln w="12700">
            <a:solidFill>
              <a:srgbClr val="1E3A4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937760" y="2331720"/>
            <a:ext cx="457200" cy="457200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235000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04688" y="2331720"/>
            <a:ext cx="3182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04688" y="2642616"/>
            <a:ext cx="3182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variance &gt; threshold → person detected. Change in state triggers a WebSocket broadcast and alert sound.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46320" y="3977640"/>
            <a:ext cx="3931920" cy="868680"/>
          </a:xfrm>
          <a:prstGeom prst="rect">
            <a:avLst/>
          </a:prstGeom>
          <a:solidFill>
            <a:srgbClr val="001820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 = median(σ²) + 2 × std(σ²) + 0.5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Software Stack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676656"/>
            <a:ext cx="2011680" cy="36576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60120"/>
            <a:ext cx="4023360" cy="1828800"/>
          </a:xfrm>
          <a:prstGeom prst="rect">
            <a:avLst/>
          </a:prstGeom>
          <a:solidFill>
            <a:srgbClr val="0D1B2A"/>
          </a:solidFill>
          <a:ln w="25400">
            <a:solidFill>
              <a:srgbClr val="0A8F8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0241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Seeed XIAO ESP32-C6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8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 Receiver  ·  ~$5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719072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RISC-V 160 MHz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965960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WiFi 6 (802.11ax)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212848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USB-Serial/JTAG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459736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ESP-IDF v5.3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960120"/>
            <a:ext cx="4023360" cy="1828800"/>
          </a:xfrm>
          <a:prstGeom prst="rect">
            <a:avLst/>
          </a:prstGeom>
          <a:solidFill>
            <a:srgbClr val="0D1B2A"/>
          </a:solidFill>
          <a:ln w="25400">
            <a:solidFill>
              <a:srgbClr val="00D4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0241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ESP32-C3 DevKit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 Transmitter  ·  ~$4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92040" y="1719072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RISC-V 160 MHz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92040" y="1965960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WiFi 802.11n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2212848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10 packets/sec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459736"/>
            <a:ext cx="3749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ESP-IDF v5.3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29260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Stack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65760" y="3383280"/>
            <a:ext cx="2057400" cy="1463040"/>
          </a:xfrm>
          <a:prstGeom prst="rect">
            <a:avLst/>
          </a:prstGeom>
          <a:solidFill>
            <a:srgbClr val="0A4060"/>
          </a:solidFill>
          <a:ln w="12700">
            <a:solidFill>
              <a:srgbClr val="1E3A4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383280"/>
            <a:ext cx="2057400" cy="36576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45643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v5.3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79476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SDK for both C3 and C6. Provides WiFi driver, CSI API, FreeRTOS.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60320" y="3383280"/>
            <a:ext cx="2057400" cy="1463040"/>
          </a:xfrm>
          <a:prstGeom prst="rect">
            <a:avLst/>
          </a:prstGeom>
          <a:solidFill>
            <a:srgbClr val="0A4060"/>
          </a:solidFill>
          <a:ln w="12700">
            <a:solidFill>
              <a:srgbClr val="1E3A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60320" y="3383280"/>
            <a:ext cx="2057400" cy="36576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345643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ESP32-CSI-Tool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651760" y="379476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base firmware (StevenMHernandez). Modified for C6 API.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3383280"/>
            <a:ext cx="2057400" cy="1463040"/>
          </a:xfrm>
          <a:prstGeom prst="rect">
            <a:avLst/>
          </a:prstGeom>
          <a:solidFill>
            <a:srgbClr val="0A4060"/>
          </a:solidFill>
          <a:ln w="12700">
            <a:solidFill>
              <a:srgbClr val="1E3A4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54880" y="3383280"/>
            <a:ext cx="2057400" cy="36576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345643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websockets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46320" y="379476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serial, variance-based detection, broadcasts via WebSocket :8765.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49440" y="3383280"/>
            <a:ext cx="2057400" cy="1463040"/>
          </a:xfrm>
          <a:prstGeom prst="rect">
            <a:avLst/>
          </a:prstGeom>
          <a:solidFill>
            <a:srgbClr val="0A4060"/>
          </a:solidFill>
          <a:ln w="12700">
            <a:solidFill>
              <a:srgbClr val="1E3A4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49440" y="3383280"/>
            <a:ext cx="2057400" cy="36576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040880" y="3456432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+ Web Audio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040880" y="379476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Single-file dashboard. Live charts, pulsing indicator, beep on detection.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676656"/>
            <a:ext cx="1188720" cy="36576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896112"/>
            <a:ext cx="5120640" cy="3977640"/>
          </a:xfrm>
          <a:prstGeom prst="rect">
            <a:avLst/>
          </a:prstGeom>
          <a:solidFill>
            <a:srgbClr val="0D122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1097280"/>
            <a:ext cx="1645920" cy="1645920"/>
          </a:xfrm>
          <a:prstGeom prst="ellipse">
            <a:avLst/>
          </a:prstGeom>
          <a:solidFill>
            <a:srgbClr val="0D1A0D"/>
          </a:solidFill>
          <a:ln w="25400">
            <a:solidFill>
              <a:srgbClr val="3DBE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128016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B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3DB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Empty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907792"/>
            <a:ext cx="1463040" cy="640080"/>
          </a:xfrm>
          <a:prstGeom prst="rect">
            <a:avLst/>
          </a:prstGeom>
          <a:solidFill>
            <a:srgbClr val="162035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9443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31729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-57 dBm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48840" y="2907792"/>
            <a:ext cx="1463040" cy="640080"/>
          </a:xfrm>
          <a:prstGeom prst="rect">
            <a:avLst/>
          </a:prstGeom>
          <a:solidFill>
            <a:srgbClr val="162035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48840" y="29443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148840" y="31729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794760" y="2907792"/>
            <a:ext cx="1463040" cy="640080"/>
          </a:xfrm>
          <a:prstGeom prst="rect">
            <a:avLst/>
          </a:prstGeom>
          <a:solidFill>
            <a:srgbClr val="162035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94760" y="2944368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794760" y="31729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2920" y="3657600"/>
            <a:ext cx="4663440" cy="777240"/>
          </a:xfrm>
          <a:prstGeom prst="rect">
            <a:avLst/>
          </a:prstGeom>
          <a:solidFill>
            <a:srgbClr val="162035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6758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A3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RSSI signal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94360" y="4206240"/>
            <a:ext cx="329184" cy="137160"/>
          </a:xfrm>
          <a:prstGeom prst="line">
            <a:avLst/>
          </a:prstGeom>
          <a:noFill/>
          <a:ln w="19050">
            <a:solidFill>
              <a:srgbClr val="22AA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3544" y="4343400"/>
            <a:ext cx="329184" cy="-205740"/>
          </a:xfrm>
          <a:prstGeom prst="line">
            <a:avLst/>
          </a:prstGeom>
          <a:noFill/>
          <a:ln w="19050">
            <a:solidFill>
              <a:srgbClr val="22AA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2728" y="4137660"/>
            <a:ext cx="329184" cy="233172"/>
          </a:xfrm>
          <a:prstGeom prst="line">
            <a:avLst/>
          </a:prstGeom>
          <a:noFill/>
          <a:ln w="19050">
            <a:solidFill>
              <a:srgbClr val="22AA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912" y="4370832"/>
            <a:ext cx="329184" cy="-274320"/>
          </a:xfrm>
          <a:prstGeom prst="line">
            <a:avLst/>
          </a:prstGeom>
          <a:noFill/>
          <a:ln w="19050">
            <a:solidFill>
              <a:srgbClr val="22AA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11096" y="4096512"/>
            <a:ext cx="329184" cy="178308"/>
          </a:xfrm>
          <a:prstGeom prst="line">
            <a:avLst/>
          </a:prstGeom>
          <a:noFill/>
          <a:ln w="19050">
            <a:solidFill>
              <a:srgbClr val="22AA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0280" y="4274820"/>
            <a:ext cx="329184" cy="-109728"/>
          </a:xfrm>
          <a:prstGeom prst="line">
            <a:avLst/>
          </a:prstGeom>
          <a:noFill/>
          <a:ln w="19050">
            <a:solidFill>
              <a:srgbClr val="22AA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69464" y="4165092"/>
            <a:ext cx="329184" cy="150876"/>
          </a:xfrm>
          <a:prstGeom prst="line">
            <a:avLst/>
          </a:prstGeom>
          <a:noFill/>
          <a:ln w="19050">
            <a:solidFill>
              <a:srgbClr val="22AA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98648" y="4315968"/>
            <a:ext cx="329184" cy="-246888"/>
          </a:xfrm>
          <a:prstGeom prst="line">
            <a:avLst/>
          </a:prstGeom>
          <a:noFill/>
          <a:ln w="19050">
            <a:solidFill>
              <a:srgbClr val="22AA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27832" y="4069080"/>
            <a:ext cx="329184" cy="233172"/>
          </a:xfrm>
          <a:prstGeom prst="line">
            <a:avLst/>
          </a:prstGeom>
          <a:noFill/>
          <a:ln w="19050">
            <a:solidFill>
              <a:srgbClr val="22AA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57016" y="4302252"/>
            <a:ext cx="329184" cy="-150876"/>
          </a:xfrm>
          <a:prstGeom prst="line">
            <a:avLst/>
          </a:prstGeom>
          <a:noFill/>
          <a:ln w="19050">
            <a:solidFill>
              <a:srgbClr val="22AA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86200" y="4151376"/>
            <a:ext cx="329184" cy="137160"/>
          </a:xfrm>
          <a:prstGeom prst="line">
            <a:avLst/>
          </a:prstGeom>
          <a:noFill/>
          <a:ln w="19050">
            <a:solidFill>
              <a:srgbClr val="22AA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15384" y="4288536"/>
            <a:ext cx="329184" cy="-178308"/>
          </a:xfrm>
          <a:prstGeom prst="line">
            <a:avLst/>
          </a:prstGeom>
          <a:noFill/>
          <a:ln w="19050">
            <a:solidFill>
              <a:srgbClr val="22AA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44568" y="4110228"/>
            <a:ext cx="329184" cy="219456"/>
          </a:xfrm>
          <a:prstGeom prst="line">
            <a:avLst/>
          </a:prstGeom>
          <a:noFill/>
          <a:ln w="19050">
            <a:solidFill>
              <a:srgbClr val="22AA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0" y="914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Features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669280" y="1417320"/>
            <a:ext cx="128016" cy="128016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88736" y="13898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RSSI and variance charts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0" y="1847088"/>
            <a:ext cx="128016" cy="128016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88736" y="1819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Pulsing green / red status indicator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0" y="2276856"/>
            <a:ext cx="128016" cy="128016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88736" y="22494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progress bar on startup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669280" y="2706624"/>
            <a:ext cx="128016" cy="128016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8736" y="26791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Beep sound on detection change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669280" y="3136392"/>
            <a:ext cx="128016" cy="128016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8736" y="3108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log with timestamps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669280" y="3566160"/>
            <a:ext cx="128016" cy="128016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88736" y="35387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Auto-reconnects on disconnect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0" y="3995928"/>
            <a:ext cx="128016" cy="128016"/>
          </a:xfrm>
          <a:prstGeom prst="ellipse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88736" y="39684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HTML file — no install needed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Limitations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676656"/>
            <a:ext cx="1737360" cy="36576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4023360" cy="365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50976"/>
            <a:ext cx="3749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B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Works Well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256032" cy="256032"/>
          </a:xfrm>
          <a:prstGeom prst="rect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371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13232" y="13898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entry and exit reliably when someone crosses the signal path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65760" y="1874520"/>
            <a:ext cx="256032" cy="256032"/>
          </a:xfrm>
          <a:prstGeom prst="rect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874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13232" y="18928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calibration adjusts to any room without manual tuning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2377440"/>
            <a:ext cx="256032" cy="256032"/>
          </a:xfrm>
          <a:prstGeom prst="rect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377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3232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C3 transmitter gives clean, regular 10 Hz signal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2880360"/>
            <a:ext cx="256032" cy="256032"/>
          </a:xfrm>
          <a:prstGeom prst="rect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28803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" y="289864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passive — no cameras, no PIR, no additional hardware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256032" cy="256032"/>
          </a:xfrm>
          <a:prstGeom prst="rect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3832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3232" y="340156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Sub-second detection latency once calibrated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54880" y="914400"/>
            <a:ext cx="4114800" cy="365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950976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754880" y="1371600"/>
            <a:ext cx="256032" cy="256032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1371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02352" y="13898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Stationary people are hard to detect — body must move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754880" y="1874520"/>
            <a:ext cx="256032" cy="256032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18745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02352" y="18928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to environmental changes (doors, fans)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754880" y="2377440"/>
            <a:ext cx="256032" cy="256032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2377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102352" y="2395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threshold may need re-tuning across rooms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754880" y="2880360"/>
            <a:ext cx="256032" cy="256032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28803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02352" y="289864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RSSI only — full complex CSI values not yet used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754880" y="3383280"/>
            <a:ext cx="256032" cy="256032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33832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102352" y="34015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detection zone — no localization or counting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365760" y="4343400"/>
            <a:ext cx="8412480" cy="548640"/>
          </a:xfrm>
          <a:prstGeom prst="rect">
            <a:avLst/>
          </a:prstGeom>
          <a:solidFill>
            <a:srgbClr val="0D1B2A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42569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steps:  Use full CSI buffer (128 complex values) instead of RSSI  ·  Apply ML classifier for person counting  ·  Fuse multiple receivers for localization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79992" y="0"/>
            <a:ext cx="64008" cy="5143500"/>
          </a:xfrm>
          <a:prstGeom prst="rect">
            <a:avLst/>
          </a:prstGeom>
          <a:solidFill>
            <a:srgbClr val="0A8F8F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2148840"/>
            <a:ext cx="822960" cy="822960"/>
          </a:xfrm>
          <a:prstGeom prst="ellipse">
            <a:avLst/>
          </a:prstGeom>
          <a:solidFill>
            <a:srgbClr val="0D1B2A"/>
          </a:solidFill>
          <a:ln w="25400">
            <a:solidFill>
              <a:srgbClr val="0A8F8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" y="1645920"/>
            <a:ext cx="1828800" cy="182880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A8F8F">
                <a:alpha val="8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594360" y="1143000"/>
            <a:ext cx="2834640" cy="283464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A8F8F">
                <a:alpha val="6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1097280" y="640080"/>
            <a:ext cx="3840480" cy="384048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A8F8F">
                <a:alpha val="4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1600200" y="137160"/>
            <a:ext cx="4846320" cy="4846320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A8F8F">
                <a:alpha val="28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914400"/>
            <a:ext cx="6858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1828800" y="19202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1828800" y="2743200"/>
            <a:ext cx="6858000" cy="457200"/>
          </a:xfrm>
          <a:prstGeom prst="rect">
            <a:avLst/>
          </a:prstGeom>
          <a:solidFill>
            <a:srgbClr val="1B2A3F"/>
          </a:solidFill>
          <a:ln w="12700">
            <a:solidFill>
              <a:srgbClr val="1B2A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2779776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B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Nima Chaharbaghi   ·   Saif Meftah   ·   Florian Milbradt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828800" y="3364992"/>
            <a:ext cx="6858000" cy="502920"/>
          </a:xfrm>
          <a:prstGeom prst="rect">
            <a:avLst/>
          </a:prstGeom>
          <a:solidFill>
            <a:srgbClr val="001820"/>
          </a:solidFill>
          <a:ln w="12700">
            <a:solidFill>
              <a:srgbClr val="0A8F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28800" y="3429000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github.com/nimachaharbaghi/presencedetection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28800" y="404164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8F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ESP32-CSI-Tool  —  github.com/StevenMHernandez/ESP32-CSI-Tool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28800" y="43891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8F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ESP-IDF v5.3    —  github.com/espressif/esp-idf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ESP32 CSI Presence Detection</dc:title>
  <dc:subject>PptxGenJS Presentation</dc:subject>
  <dc:creator>PptxGenJS</dc:creator>
  <cp:lastModifiedBy>PptxGenJS</cp:lastModifiedBy>
  <cp:revision>1</cp:revision>
  <dcterms:created xsi:type="dcterms:W3CDTF">2026-05-29T10:35:22Z</dcterms:created>
  <dcterms:modified xsi:type="dcterms:W3CDTF">2026-05-29T10:35:22Z</dcterms:modified>
</cp:coreProperties>
</file>