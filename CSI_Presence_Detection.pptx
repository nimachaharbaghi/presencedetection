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873EF-872A-F408-50C0-D5454F162ACF}" v="23" dt="2026-05-29T10:46:02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450D1-42EC-4F12-8CE5-45D45FE27EC9}" type="datetimeFigureOut"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F94C07-F48C-47FA-B0DC-2A8E261DE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23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28600"/>
            <a:ext cx="91440" cy="9144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228600"/>
            <a:ext cx="91440" cy="9144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" y="228600"/>
            <a:ext cx="91440" cy="91440"/>
          </a:xfrm>
          <a:prstGeom prst="ellipse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28600"/>
            <a:ext cx="91440" cy="91440"/>
          </a:xfrm>
          <a:prstGeom prst="ellipse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228600"/>
            <a:ext cx="91440" cy="91440"/>
          </a:xfrm>
          <a:prstGeom prst="ellipse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28600"/>
            <a:ext cx="91440" cy="91440"/>
          </a:xfrm>
          <a:prstGeom prst="ellipse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CSI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Detection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Channel State Information from ESP32-C6 &amp; ESP32-C3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Chaharbaghi   ·   Saif Meftah   ·   Florian Milbradt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github.com/nimachaharbaghi/presencedetection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97280" cy="109728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A8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1600200"/>
            <a:ext cx="1920240" cy="19202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188720"/>
            <a:ext cx="2743200" cy="2743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777240"/>
            <a:ext cx="3566160" cy="356616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2542032"/>
            <a:ext cx="54864" cy="54864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WiFi Sensing · Real-Time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74320"/>
            <a:ext cx="1097280" cy="457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457200"/>
            <a:ext cx="5120640" cy="1188720"/>
          </a:xfrm>
          <a:prstGeom prst="rect">
            <a:avLst/>
          </a:prstGeom>
          <a:solidFill>
            <a:srgbClr val="E8F4F4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566928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describes how a WiFi signal travels from transmitter to receiver — capturing the amplitude and phase shift of each subcarrier frequency.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920240"/>
            <a:ext cx="384048" cy="384048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938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51960" y="1920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RSSI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21579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gives one number. CSI gives 52–256 complex values per packet — a full fingerprint of the signal path.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2807208"/>
            <a:ext cx="384048" cy="384048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825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51960" y="2807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in 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044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bodies absorb 2.4 GHz WiFi at ~60%. Any person in the path measurably distorts the signal.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49040" y="3694176"/>
            <a:ext cx="384048" cy="384048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37124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3694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hardware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802.11 packets carry CSI. No cameras, no PIR sensors — just the WiFi radio already on the chip.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boards under $5 — total hardware cost ~$10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0A1F0A"/>
          </a:solidFill>
          <a:ln w="25400">
            <a:solidFill>
              <a:srgbClr val="0A8F8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137160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Seeed XIAO ESP32-C6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23160" y="1709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Receiver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2316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WiFi 6 (802.11ax)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2316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RISC-V 160 MHz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2316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128 CSI samples/pkt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23160" y="29352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ESP-IDF v5.3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23160" y="3493008"/>
            <a:ext cx="1691640" cy="5029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23160" y="3493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10896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Seeed Studio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Series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solidFill>
            <a:srgbClr val="0A0A1F"/>
          </a:solidFill>
          <a:ln w="25400">
            <a:solidFill>
              <a:srgbClr val="00D4A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325880"/>
            <a:ext cx="1371600" cy="21945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675120" y="12984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DevKit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75120" y="1709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Transmitter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675120" y="20299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WiFi 802.11n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675120" y="2331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RISC-V 160 MHz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675120" y="26334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 packets/sec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75120" y="29352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Runs on powerbank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75120" y="3493008"/>
            <a:ext cx="1691640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75120" y="3493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736092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devkit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AliExpress/Amazon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481888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 hardware cost: ~$9   ·   No soldering required   ·   Plug-and-play USB</a:t>
            </a:r>
            <a:endParaRPr lang="en-US" sz="1000" dirty="0"/>
          </a:p>
        </p:txBody>
      </p:sp>
      <p:pic>
        <p:nvPicPr>
          <p:cNvPr id="29" name="Picture 28" descr="Seeed XIAO ESP32C3">
            <a:extLst>
              <a:ext uri="{FF2B5EF4-FFF2-40B4-BE49-F238E27FC236}">
                <a16:creationId xmlns:a16="http://schemas.microsoft.com/office/drawing/2014/main" id="{79A243DE-6AC3-77ED-82A1-A80A95B142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406" t="15035" r="31476" b="16960"/>
          <a:stretch>
            <a:fillRect/>
          </a:stretch>
        </p:blipFill>
        <p:spPr>
          <a:xfrm>
            <a:off x="5174409" y="1607605"/>
            <a:ext cx="1365397" cy="1883025"/>
          </a:xfrm>
          <a:prstGeom prst="rect">
            <a:avLst/>
          </a:prstGeom>
        </p:spPr>
      </p:pic>
      <p:pic>
        <p:nvPicPr>
          <p:cNvPr id="31" name="Picture 30" descr="Seeed Xiao ESP32-C6 - WiFi/Bluetooth - Seeedstudio 113991254 Botland -  Robotic Shop">
            <a:extLst>
              <a:ext uri="{FF2B5EF4-FFF2-40B4-BE49-F238E27FC236}">
                <a16:creationId xmlns:a16="http://schemas.microsoft.com/office/drawing/2014/main" id="{5F81F784-E79F-4EFB-C0CC-9139B97AEB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700" t="4894" r="16106" b="6302"/>
          <a:stretch>
            <a:fillRect/>
          </a:stretch>
        </p:blipFill>
        <p:spPr>
          <a:xfrm>
            <a:off x="774164" y="1502919"/>
            <a:ext cx="1512042" cy="2036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73736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B2A3F"/>
          </a:solidFill>
          <a:ln w="25400">
            <a:solidFill>
              <a:srgbClr val="8BA3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46504" y="1645920"/>
            <a:ext cx="566928" cy="0"/>
          </a:xfrm>
          <a:prstGeom prst="line">
            <a:avLst/>
          </a:prstGeom>
          <a:noFill/>
          <a:ln w="19050">
            <a:solidFill>
              <a:srgbClr val="0A8F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96012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B2A3F"/>
          </a:solidFill>
          <a:ln w="25400">
            <a:solidFill>
              <a:srgbClr val="0A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241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664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active_sta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21024" y="1645920"/>
            <a:ext cx="566928" cy="0"/>
          </a:xfrm>
          <a:prstGeom prst="line">
            <a:avLst/>
          </a:prstGeom>
          <a:noFill/>
          <a:ln w="19050">
            <a:solidFill>
              <a:srgbClr val="0A8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96012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B2A3F"/>
          </a:solidFill>
          <a:ln w="25400">
            <a:solidFill>
              <a:srgbClr val="0A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0241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1664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sniffer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32704" y="1645920"/>
            <a:ext cx="566928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96012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B2A3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0241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664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csi_server.py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44384" y="1645920"/>
            <a:ext cx="566928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96012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1B2A3F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102412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26680" y="1664208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presence_dashboard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64792" y="2395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connection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39312" y="2395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packets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data)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50992" y="2395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/dev/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ttyACM0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62672" y="23957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localhost:8765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017520"/>
            <a:ext cx="2834640" cy="1783080"/>
          </a:xfrm>
          <a:prstGeom prst="rect">
            <a:avLst/>
          </a:prstGeom>
          <a:solidFill>
            <a:srgbClr val="10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Transmission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45643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connects to hotspot and fires packets at 10/sec. Each packet triggers a CSI measurement on the receiver.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3017520"/>
            <a:ext cx="2834640" cy="1783080"/>
          </a:xfrm>
          <a:prstGeom prst="rect">
            <a:avLst/>
          </a:prstGeom>
          <a:solidFill>
            <a:srgbClr val="10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CSI Collection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45643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runs in promiscuous mode on ch.6. For every C3 packet, the WiFi driver captures 128 CSI samples and prints to serial.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72200" y="3017520"/>
            <a:ext cx="2834640" cy="1783080"/>
          </a:xfrm>
          <a:prstGeom prst="rect">
            <a:avLst/>
          </a:prstGeom>
          <a:solidFill>
            <a:srgbClr val="10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Presence Detection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3456432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serial, extracts RSSI, computes rolling variance over 50 samples, and compares against a calibrated threshold.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89888"/>
            <a:ext cx="128016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signals travel multiple paths. A human body changes those paths.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914400" cy="5029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350008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2.4 GHz absorbed by water in human tissue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990088"/>
            <a:ext cx="914400" cy="5029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08376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0815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subcarriers measured per packet on ESP32-C6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648456"/>
            <a:ext cx="914400" cy="5029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666744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739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per second from the C3 transmitter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06824"/>
            <a:ext cx="914400" cy="50292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325112"/>
            <a:ext cx="9144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3982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 after calibration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"/>
            <a:ext cx="4114800" cy="4572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411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propagation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097280"/>
            <a:ext cx="731520" cy="45720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97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731520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3474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7568" y="1325880"/>
            <a:ext cx="2176272" cy="2194560"/>
          </a:xfrm>
          <a:prstGeom prst="line">
            <a:avLst/>
          </a:prstGeom>
          <a:noFill/>
          <a:ln w="19050">
            <a:solidFill>
              <a:srgbClr val="0A8F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828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87568" y="1325880"/>
            <a:ext cx="1371600" cy="0"/>
          </a:xfrm>
          <a:prstGeom prst="line">
            <a:avLst/>
          </a:prstGeom>
          <a:noFill/>
          <a:ln w="12700">
            <a:solidFill>
              <a:srgbClr val="4488A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059168" y="1051560"/>
            <a:ext cx="1170432" cy="2468880"/>
          </a:xfrm>
          <a:prstGeom prst="line">
            <a:avLst/>
          </a:prstGeom>
          <a:noFill/>
          <a:ln w="12700">
            <a:solidFill>
              <a:srgbClr val="4488A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09360" y="2011680"/>
            <a:ext cx="457200" cy="731520"/>
          </a:xfrm>
          <a:prstGeom prst="ellipse">
            <a:avLst/>
          </a:prstGeom>
          <a:solidFill>
            <a:srgbClr val="3A2060"/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8163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331720"/>
            <a:ext cx="548640" cy="548640"/>
          </a:xfrm>
          <a:prstGeom prst="line">
            <a:avLst/>
          </a:prstGeom>
          <a:noFill/>
          <a:ln w="12700">
            <a:solidFill>
              <a:srgbClr val="E05252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6766560" y="2331720"/>
            <a:ext cx="731520" cy="1097280"/>
          </a:xfrm>
          <a:prstGeom prst="line">
            <a:avLst/>
          </a:prstGeom>
          <a:noFill/>
          <a:ln w="12700">
            <a:solidFill>
              <a:srgbClr val="E05252"/>
            </a:solidFill>
            <a:prstDash val="sysDot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73736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14300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33272"/>
            <a:ext cx="457200" cy="45720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0332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MAC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34416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packets from the C3's known MAC address are processed. All ambient WiFi traffic is ignored.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3931920" cy="114300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00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33172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42616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50 RSSI values are stored in a circular buffer. Smooths noise while staying responsive to real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3931920" cy="114300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30168"/>
            <a:ext cx="457200" cy="45720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484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363016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metric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941064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average squared deviation from the mean. Empty room: low. Person present: higher and fluctuating.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114300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033272"/>
            <a:ext cx="457200" cy="45720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0515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04688" y="103327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1344168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startup, 30 seconds of empty-room variance is recorded. Threshold = median + 2 × std deviation + 0.5.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58568"/>
            <a:ext cx="3931920" cy="114300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2331720"/>
            <a:ext cx="457200" cy="457200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35000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33172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2642616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variance &gt; threshold → person detected. Change in state triggers a WebSocket broadcast and alert sound.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977640"/>
            <a:ext cx="3931920" cy="868680"/>
          </a:xfrm>
          <a:prstGeom prst="rect">
            <a:avLst/>
          </a:prstGeom>
          <a:solidFill>
            <a:srgbClr val="001820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median(σ²) + 2 × std(σ²) + 0.5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201168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0A8F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Seeed XIAO ESP32-C6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Receiver  ·  ~$5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RISC-V 160 MHz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WiFi 6 (802.11ax)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USB-Serial/JTAG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597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ESP-IDF v5.3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DevKit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Transmitter  ·  ~$4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71907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RISC-V 160 MHz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WiFi 802.11n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21284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10 packets/sec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45973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ESP-IDF v5.3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2057400" cy="1463040"/>
          </a:xfrm>
          <a:prstGeom prst="rect">
            <a:avLst/>
          </a:prstGeom>
          <a:solidFill>
            <a:srgbClr val="0A4060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83280"/>
            <a:ext cx="205740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56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ESP-IDF v5.3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SDK for both C3 and C6. Provides WiFi driver, CSI API, FreeRTOS.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3383280"/>
            <a:ext cx="2057400" cy="1463040"/>
          </a:xfrm>
          <a:prstGeom prst="rect">
            <a:avLst/>
          </a:prstGeom>
          <a:solidFill>
            <a:srgbClr val="0A4060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383280"/>
            <a:ext cx="205740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456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ESP32-CSI-Tool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51760" y="37947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base firmware (StevenMHernandez). Modified for C6 API.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383280"/>
            <a:ext cx="2057400" cy="1463040"/>
          </a:xfrm>
          <a:prstGeom prst="rect">
            <a:avLst/>
          </a:prstGeom>
          <a:solidFill>
            <a:srgbClr val="0A4060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383280"/>
            <a:ext cx="205740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456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websockets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7947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serial, variance-based detection, broadcasts via WebSocket :8765.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383280"/>
            <a:ext cx="2057400" cy="1463040"/>
          </a:xfrm>
          <a:prstGeom prst="rect">
            <a:avLst/>
          </a:prstGeom>
          <a:solidFill>
            <a:srgbClr val="0A4060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3383280"/>
            <a:ext cx="205740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456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Web Audio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7947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dashboard. Live charts, pulsing indicator, beep on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76656"/>
            <a:ext cx="118872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5120640" cy="3977640"/>
          </a:xfrm>
          <a:prstGeom prst="rect">
            <a:avLst/>
          </a:prstGeom>
          <a:solidFill>
            <a:srgbClr val="0D1220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97280"/>
            <a:ext cx="1645920" cy="1645920"/>
          </a:xfrm>
          <a:prstGeom prst="ellipse">
            <a:avLst/>
          </a:prstGeom>
          <a:solidFill>
            <a:srgbClr val="0D1A0D"/>
          </a:solidFill>
          <a:ln w="25400">
            <a:solidFill>
              <a:srgbClr val="3DB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Empty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07792"/>
            <a:ext cx="1463040" cy="6400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44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-57 dBm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907792"/>
            <a:ext cx="1463040" cy="6400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944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4884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94760" y="2907792"/>
            <a:ext cx="1463040" cy="64008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29443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94760" y="3172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4663440" cy="777240"/>
          </a:xfrm>
          <a:prstGeom prst="rect">
            <a:avLst/>
          </a:prstGeom>
          <a:solidFill>
            <a:srgbClr val="1620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signal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4206240"/>
            <a:ext cx="329184" cy="13716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4343400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4137660"/>
            <a:ext cx="329184" cy="233172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912" y="4370832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11096" y="4096512"/>
            <a:ext cx="329184" cy="178308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4274820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9464" y="4165092"/>
            <a:ext cx="329184" cy="150876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98648" y="4315968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4069080"/>
            <a:ext cx="329184" cy="233172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57016" y="4302252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4151376"/>
            <a:ext cx="329184" cy="13716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5384" y="4288536"/>
            <a:ext cx="329184" cy="0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4568" y="4110228"/>
            <a:ext cx="329184" cy="219456"/>
          </a:xfrm>
          <a:prstGeom prst="line">
            <a:avLst/>
          </a:prstGeom>
          <a:noFill/>
          <a:ln w="19050">
            <a:solidFill>
              <a:srgbClr val="22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0" y="1417320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RSSI and variance charts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1847088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8736" y="18196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green / red status indicator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0" y="2276856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8736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progress bar on startup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0" y="2706624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8736" y="2679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sound on detection change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0" y="3136392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8736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 with timestamps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0" y="3566160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3538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Auto-reconnects on disconnect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0" y="3995928"/>
            <a:ext cx="128016" cy="128016"/>
          </a:xfrm>
          <a:prstGeom prst="ellipse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88736" y="3968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no install needed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1737360" cy="36576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56032" cy="25603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entry and exit reliably when someone crosses the signal path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56032" cy="25603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calibration adjusts to any room without manual tuning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256032" cy="25603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C3 transmitter gives clean, regular 10 Hz signal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256032" cy="25603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passive — no cameras, no PIR, no additional hardware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256032" cy="25603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4015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detection latency once calibrated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9509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25603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people are hard to detect — body must move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1874520"/>
            <a:ext cx="25603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environmental changes (doors, fans)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2377440"/>
            <a:ext cx="25603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02352" y="23957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threshold may need re-tuning across rooms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02352" y="2898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only — full complex CSI values not yet used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54880" y="3383280"/>
            <a:ext cx="256032" cy="25603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383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02352" y="34015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detection zone — no localization or counting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256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Use full CSI buffer (128 complex values) instead of RSSI  ·  Apply ML classifier for person counting  ·  Fuse multiple receivers for localization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A8F8F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148840"/>
            <a:ext cx="822960" cy="8229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A8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1645920"/>
            <a:ext cx="1828800" cy="18288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94360" y="1143000"/>
            <a:ext cx="2834640" cy="283464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6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097280" y="640080"/>
            <a:ext cx="3840480" cy="3840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4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600200" y="137160"/>
            <a:ext cx="4846320" cy="48463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A8F8F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828800" y="1920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828800" y="2743200"/>
            <a:ext cx="6858000" cy="457200"/>
          </a:xfrm>
          <a:prstGeom prst="rect">
            <a:avLst/>
          </a:prstGeom>
          <a:solidFill>
            <a:srgbClr val="1B2A3F"/>
          </a:solidFill>
          <a:ln w="12700">
            <a:solidFill>
              <a:srgbClr val="1B2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77977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Chaharbaghi   ·   Saif Meftah   ·   Florian Milbradt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3364992"/>
            <a:ext cx="6858000" cy="502920"/>
          </a:xfrm>
          <a:prstGeom prst="rect">
            <a:avLst/>
          </a:prstGeom>
          <a:solidFill>
            <a:srgbClr val="001820"/>
          </a:solidFill>
          <a:ln w="12700">
            <a:solidFill>
              <a:srgbClr val="0A8F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4290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github.com/nimachaharbaghi/presencedetection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4041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ESP32-CSI-Tool  —  github.com/StevenMHernandez/ESP32-CSI-Tool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4389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8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ESP-IDF v5.3    —  github.com/espressif/esp-idf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 CSI Presence Detection</dc:title>
  <dc:subject>PptxGenJS Presentation</dc:subject>
  <dc:creator>PptxGenJS</dc:creator>
  <cp:lastModifiedBy>PptxGenJS</cp:lastModifiedBy>
  <cp:revision>15</cp:revision>
  <dcterms:created xsi:type="dcterms:W3CDTF">2026-05-29T10:35:22Z</dcterms:created>
  <dcterms:modified xsi:type="dcterms:W3CDTF">2026-05-29T10:46:31Z</dcterms:modified>
</cp:coreProperties>
</file>